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822960"/>
            <a:ext cx="3840480" cy="3840480"/>
          </a:xfrm>
          <a:prstGeom prst="ellipse">
            <a:avLst/>
          </a:prstGeom>
          <a:solidFill>
            <a:srgbClr val="1A4A7A">
              <a:alpha val="38000"/>
            </a:srgbClr>
          </a:solidFill>
          <a:ln w="12700">
            <a:solidFill>
              <a:srgbClr val="1A4A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3108960"/>
            <a:ext cx="3474720" cy="3474720"/>
          </a:xfrm>
          <a:prstGeom prst="ellipse">
            <a:avLst/>
          </a:prstGeom>
          <a:solidFill>
            <a:srgbClr val="005B8E">
              <a:alpha val="28000"/>
            </a:srgbClr>
          </a:solidFill>
          <a:ln w="12700">
            <a:solidFill>
              <a:srgbClr val="005B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Enerji Yönetimi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İkiz &amp; Ajan Sistemi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Termal Model  ·  Çoklu Ajan  ·  ML (Kapalı Döngü)  ·  Pecan Street IoT Validasyonu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4572000" cy="2743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74520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74520"/>
            <a:ext cx="64008" cy="54864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9476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🔬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24128" y="1956816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ısı dengesi denklemli gerçek Dijital İkiz simülasyonu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32888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32888"/>
            <a:ext cx="64008" cy="54864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4128" y="2615184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otonom ajan + koordinatör ile çoklu ajan karar sistemi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91256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91256"/>
            <a:ext cx="64008" cy="54864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4128" y="3273552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özellikli + kapalı döngü Random Forest ML modeli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9624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49624"/>
            <a:ext cx="64008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922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393192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Pecan Street Dataport — Austin TX, 25 ev, gerçek AC güç validasyonu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1874520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1874520"/>
            <a:ext cx="27432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9385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080760" y="2368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80760" y="2862072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2862072"/>
            <a:ext cx="2743200" cy="50292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0760" y="29260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080760" y="33558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80760" y="3849624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80760" y="3849624"/>
            <a:ext cx="2743200" cy="502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391363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080760" y="4343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Validasyon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Metriği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solidFill>
            <a:srgbClr val="0D1E30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Streamlit  ·  Scikit-learn  ·  Plotly  ·  Pecan Street Dataport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Problem: Binalarda Enerji İsrafı &amp; Kontrol Eksikliği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024128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024128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338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1133856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enerjisinin %40'ı HVAC sistemlerinden — en büyük israf kaynağı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1792224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" y="1792224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019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32688" y="1901952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Geleneksel sistemler sabit If/Else ile çalışır, esneklik sıfır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47472" y="2560320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" y="2560320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2670048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 tarife saatlerinde farkındalıksız tam güç → gereksiz maliyet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7472" y="3328416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3328416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381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🌡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" y="3438144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 sıcaklık &amp; doluluk değişimine dinamik tepki verilemiyor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47472" y="4096512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47472" y="4096512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06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☁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2688" y="4206240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karbon emisyonu, işletme maliyeti ve konfor kaybı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1024128"/>
            <a:ext cx="3310128" cy="3840480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0" y="1024128"/>
            <a:ext cx="64008" cy="3840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109728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Çözüm: 3 Katmanlı Akıllı Sistem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650992" y="1572768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24144" y="1755648"/>
            <a:ext cx="457200" cy="457200"/>
          </a:xfrm>
          <a:prstGeom prst="ellipse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24144" y="1755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254496" y="1645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İkiz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54496" y="190195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bina modelini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simüle eder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858000" y="2450592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50992" y="2615184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AB47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24144" y="2798064"/>
            <a:ext cx="457200" cy="457200"/>
          </a:xfrm>
          <a:prstGeom prst="ellipse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24144" y="2798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54496" y="268833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Sistemi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54496" y="2944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kararlar alır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858000" y="349300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50992" y="3657600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724144" y="3840480"/>
            <a:ext cx="457200" cy="457200"/>
          </a:xfrm>
          <a:prstGeom prst="ellipse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24144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254496" y="37307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+ IoT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398678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Veriden öğrenir,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gerçekle doğrular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Sistem Mimarisi — Kapalı Döngü + Pecan Street IoT Validasyonu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987552"/>
            <a:ext cx="2816352" cy="40233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987552"/>
            <a:ext cx="2816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ML Katmanı (Kapalı Döngü)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163824" y="987552"/>
            <a:ext cx="2816352" cy="402336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63824" y="987552"/>
            <a:ext cx="2816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Ajan Katmanı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987552"/>
            <a:ext cx="2816352" cy="402336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987552"/>
            <a:ext cx="2816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Dijital İkiz &amp; IoT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01168" y="1463040"/>
            <a:ext cx="2816352" cy="585216"/>
          </a:xfrm>
          <a:prstGeom prst="rect">
            <a:avLst/>
          </a:prstGeom>
          <a:solidFill>
            <a:srgbClr val="0D1E30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481328"/>
            <a:ext cx="27066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 Özellikler (5 adet):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664208"/>
            <a:ext cx="2706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Saat · T_dış · T_iç · Kişi · Fiyat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" y="2103120"/>
            <a:ext cx="2816352" cy="457200"/>
          </a:xfrm>
          <a:prstGeom prst="rect">
            <a:avLst/>
          </a:prstGeom>
          <a:solidFill>
            <a:srgbClr val="1A3515"/>
          </a:solidFill>
          <a:ln w="15240">
            <a:solidFill>
              <a:srgbClr val="66BB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" y="2121408"/>
            <a:ext cx="2724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Kapalı Döngü: T_iç→predict→T_iç_yeni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Hedef: konfor odaklı (fiyat ikincil)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1168" y="2788920"/>
            <a:ext cx="2816352" cy="566928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2807208"/>
            <a:ext cx="2724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Eğitimi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gün × 24 saat = 8.760 örnek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08176" y="3383280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01168" y="3584448"/>
            <a:ext cx="2816352" cy="566928"/>
          </a:xfrm>
          <a:prstGeom prst="rect">
            <a:avLst/>
          </a:prstGeom>
          <a:solidFill>
            <a:srgbClr val="0D1E30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" y="3602736"/>
            <a:ext cx="2724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 Önemleri: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~35%  ·  T_dış ~28%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Tarife ~20%  ·  Kişi ~12%  ·  Saat ~5%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63824" y="1481328"/>
            <a:ext cx="2816352" cy="713232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3824" y="1481328"/>
            <a:ext cx="64008" cy="71323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73552" y="153619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Konfor Ajanı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273552" y="179222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&gt; 26°C → orantılı güç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(eşik: /2.0 agresif)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70832" y="2212848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163824" y="2340864"/>
            <a:ext cx="2816352" cy="713232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63824" y="2340864"/>
            <a:ext cx="64008" cy="713232"/>
          </a:xfrm>
          <a:prstGeom prst="rect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3552" y="239572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Maliyet Ajanı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273552" y="2651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≤ 26°C → standby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 + sıcak → %35 güç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370832" y="3072384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163824" y="3200400"/>
            <a:ext cx="2816352" cy="713232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63824" y="3200400"/>
            <a:ext cx="64008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3552" y="32552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 Sürd. Ajanı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273552" y="351129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≤ 26°C → standby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Sıcak → %35 güç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163824" y="4078224"/>
            <a:ext cx="2816352" cy="713232"/>
          </a:xfrm>
          <a:prstGeom prst="rect">
            <a:avLst/>
          </a:prstGeom>
          <a:solidFill>
            <a:srgbClr val="0D1E30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218688" y="4096512"/>
            <a:ext cx="2724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Koordinatör Ajan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218688" y="4352544"/>
            <a:ext cx="27249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w₁·Pk + w₂·Pm + w₃·Ps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Tüm eşikler 26°C ile hizalandı ✅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26480" y="1463040"/>
            <a:ext cx="2816352" cy="713232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81344" y="1517904"/>
            <a:ext cx="27066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Pecan Street Dataport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ev · Austin TX · 2018 · 15 dk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33488" y="2194560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26480" y="2322576"/>
            <a:ext cx="2816352" cy="713232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2377440"/>
            <a:ext cx="27066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air1 (AC gücü, kW)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Devre seviyesi ölçüm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333488" y="3054096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126480" y="3182112"/>
            <a:ext cx="2816352" cy="713232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81344" y="3236976"/>
            <a:ext cx="27066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Isı Dengesi (γ=2.0 düzeltildi)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T_iç[t+1]=T_iç+α(T_dış−T_iç)+β·N−γ·P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333488" y="3913632"/>
            <a:ext cx="40233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126480" y="4041648"/>
            <a:ext cx="2816352" cy="713232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81344" y="4096512"/>
            <a:ext cx="27066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Korelasyon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Normalize Profil Karşılaştırması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408176" y="4681728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370832" y="4681728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333488" y="4681728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645920" y="4828032"/>
            <a:ext cx="5852160" cy="25603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645920" y="4828032"/>
            <a:ext cx="5852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6 Sekme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Sonuçlar, Düzeltmeler &amp; Sistem Çıktısı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005840"/>
            <a:ext cx="1993392" cy="54864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56032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32304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32304" y="1005840"/>
            <a:ext cx="1993392" cy="54864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32304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1005840"/>
            <a:ext cx="1993392" cy="54864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08576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Validasyon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Korelasyon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84848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84848" y="1005840"/>
            <a:ext cx="199339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84848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8.760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84848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Eğitim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Örneği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" y="2706624"/>
            <a:ext cx="4572000" cy="2286000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706624"/>
            <a:ext cx="64008" cy="2286000"/>
          </a:xfrm>
          <a:prstGeom prst="rect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761488"/>
            <a:ext cx="43525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Uygulanan Teknik Düzeltmeler (8 Madde)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84048" y="3108960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ML: T_iç özelliği + kapalı döngü eğitim &amp; tahmin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" y="3346704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Geleneksel: histerezis (25°C aç / 22°C kapat)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84048" y="3584448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Konfor Ajanı: agresif yanıt (bölen 6→2)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4048" y="3822192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Ajan eşikleri hizalandı (24°C→26°C, tutarlı)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" y="4059936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Soğutma katsayısı γ fiziksel düzeltme (0.8→2.0)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84048" y="4297680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T_iç sınırlama clip(5°C–60°C), tüm döngüler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84048" y="4535424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ML cache key tamamlandı (fiyat, mesai dahil)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84048" y="4773168"/>
            <a:ext cx="43525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Pecan Street IoT: güç validasyonu + Pearson kor.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2706624"/>
            <a:ext cx="3858768" cy="2286000"/>
          </a:xfrm>
          <a:prstGeom prst="rect">
            <a:avLst/>
          </a:prstGeom>
          <a:solidFill>
            <a:srgbClr val="162C47"/>
          </a:solidFill>
          <a:ln w="1905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029200" y="2706624"/>
            <a:ext cx="64008" cy="228600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57216" y="2761488"/>
            <a:ext cx="3639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Akademik Katkılar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157216" y="3108960"/>
            <a:ext cx="3639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Fiziksel Dijital İkiz: ısı dengesi kapalı döngü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57216" y="3456432"/>
            <a:ext cx="3639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Çoklu Ajan: ağırlıklı koordinasyon mekanizması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57216" y="3803904"/>
            <a:ext cx="3639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ML: T_iç geri beslemeli konfor odaklı öğrenme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57216" y="4151376"/>
            <a:ext cx="3639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Pecan Street IoT: güç profili validasyonu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57216" y="4498848"/>
            <a:ext cx="3639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Metrik: Pearson korelasyon (ölçekten bağımsız)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57216" y="4846320"/>
            <a:ext cx="3639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R² negatif → beklenen (farklı bina ölçeği)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0" y="4892040"/>
            <a:ext cx="9144000" cy="201168"/>
          </a:xfrm>
          <a:prstGeom prst="rect">
            <a:avLst/>
          </a:prstGeom>
          <a:solidFill>
            <a:srgbClr val="0D1E30"/>
          </a:solidFill>
          <a:ln w="12700">
            <a:solidFill>
              <a:srgbClr val="0D1E3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0" y="489204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Streamlit  ·  Scikit-learn  ·  Plotly  ·  Pecan Street Dataport  ·  UCI ML Repository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Bina Enerji Yonetimi Dijital Ikizi ve Ajan Sistemi</dc:title>
  <dc:subject>PptxGenJS Presentation</dc:subject>
  <dc:creator>PptxGenJS</dc:creator>
  <cp:lastModifiedBy>PptxGenJS</cp:lastModifiedBy>
  <cp:revision>1</cp:revision>
  <dcterms:created xsi:type="dcterms:W3CDTF">2026-06-05T06:33:08Z</dcterms:created>
  <dcterms:modified xsi:type="dcterms:W3CDTF">2026-06-05T06:33:08Z</dcterms:modified>
</cp:coreProperties>
</file>