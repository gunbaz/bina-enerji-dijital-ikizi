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E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822960"/>
            <a:ext cx="3840480" cy="3840480"/>
          </a:xfrm>
          <a:prstGeom prst="ellipse">
            <a:avLst/>
          </a:prstGeom>
          <a:solidFill>
            <a:srgbClr val="1A4A7A">
              <a:alpha val="38000"/>
            </a:srgbClr>
          </a:solidFill>
          <a:ln w="12700">
            <a:solidFill>
              <a:srgbClr val="1A4A7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280160" y="3108960"/>
            <a:ext cx="3474720" cy="3474720"/>
          </a:xfrm>
          <a:prstGeom prst="ellipse">
            <a:avLst/>
          </a:prstGeom>
          <a:solidFill>
            <a:srgbClr val="005B8E">
              <a:alpha val="28000"/>
            </a:srgbClr>
          </a:solidFill>
          <a:ln w="12700">
            <a:solidFill>
              <a:srgbClr val="005B8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 Enerji Yönetimi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42A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Dijital İkiz &amp; Ajan Sistemi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457200" y="1316736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Fiziksel Termal Model  ·  Çoklu Ajan  ·  ML (Kapalı Döngü)  ·  Gerçek IoT Validasyonu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09928"/>
            <a:ext cx="4572000" cy="27432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874520"/>
            <a:ext cx="5212080" cy="548640"/>
          </a:xfrm>
          <a:prstGeom prst="rect">
            <a:avLst/>
          </a:prstGeom>
          <a:solidFill>
            <a:srgbClr val="162C47"/>
          </a:solidFill>
          <a:ln w="19050">
            <a:solidFill>
              <a:srgbClr val="42A5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1874520"/>
            <a:ext cx="64008" cy="548640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19476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🔬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24128" y="1956816"/>
            <a:ext cx="4526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Fiziksel ısı dengesi denklemli gerçek Dijital İkiz simülasyonu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32888"/>
            <a:ext cx="5212080" cy="548640"/>
          </a:xfrm>
          <a:prstGeom prst="rect">
            <a:avLst/>
          </a:prstGeom>
          <a:solidFill>
            <a:srgbClr val="162C47"/>
          </a:solidFill>
          <a:ln w="19050">
            <a:solidFill>
              <a:srgbClr val="AB47B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32888"/>
            <a:ext cx="64008" cy="548640"/>
          </a:xfrm>
          <a:prstGeom prst="rect">
            <a:avLst/>
          </a:prstGeom>
          <a:solidFill>
            <a:srgbClr val="AB47BC"/>
          </a:solidFill>
          <a:ln w="12700">
            <a:solidFill>
              <a:srgbClr val="AB47B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6060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🤝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24128" y="2615184"/>
            <a:ext cx="4526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otonom ajan + koordinatör ile çoklu ajan karar sistemi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191256"/>
            <a:ext cx="5212080" cy="548640"/>
          </a:xfrm>
          <a:prstGeom prst="rect">
            <a:avLst/>
          </a:prstGeom>
          <a:solidFill>
            <a:srgbClr val="162C47"/>
          </a:solidFill>
          <a:ln w="19050">
            <a:solidFill>
              <a:srgbClr val="00BFA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3191256"/>
            <a:ext cx="64008" cy="54864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2644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🌲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24128" y="3273552"/>
            <a:ext cx="4526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T_iç özellikli + kapalı döngü Random Forest ML modeli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849624"/>
            <a:ext cx="5212080" cy="548640"/>
          </a:xfrm>
          <a:prstGeom prst="rect">
            <a:avLst/>
          </a:prstGeom>
          <a:solidFill>
            <a:srgbClr val="162C4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849624"/>
            <a:ext cx="64008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39227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📡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24128" y="3931920"/>
            <a:ext cx="4526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UCI veri setiyle gerçek IoT sensör verisi validasyonu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080760" y="1874520"/>
            <a:ext cx="2743200" cy="877824"/>
          </a:xfrm>
          <a:prstGeom prst="rect">
            <a:avLst/>
          </a:prstGeom>
          <a:solidFill>
            <a:srgbClr val="0D1E30"/>
          </a:solidFill>
          <a:ln w="25400">
            <a:solidFill>
              <a:srgbClr val="42A5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080760" y="1874520"/>
            <a:ext cx="2743200" cy="50292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80760" y="1938528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2A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~30%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6080760" y="2368296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Enerji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Tasarrufu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080760" y="2862072"/>
            <a:ext cx="2743200" cy="877824"/>
          </a:xfrm>
          <a:prstGeom prst="rect">
            <a:avLst/>
          </a:prstGeom>
          <a:solidFill>
            <a:srgbClr val="0D1E30"/>
          </a:solidFill>
          <a:ln w="25400">
            <a:solidFill>
              <a:srgbClr val="AB47B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80760" y="2862072"/>
            <a:ext cx="2743200" cy="50292"/>
          </a:xfrm>
          <a:prstGeom prst="rect">
            <a:avLst/>
          </a:prstGeom>
          <a:solidFill>
            <a:srgbClr val="AB47BC"/>
          </a:solidFill>
          <a:ln w="12700">
            <a:solidFill>
              <a:srgbClr val="AB47B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80760" y="2926080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AB4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~37%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6080760" y="335584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Ajan Enerji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Tasarrufu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080760" y="3849624"/>
            <a:ext cx="2743200" cy="877824"/>
          </a:xfrm>
          <a:prstGeom prst="rect">
            <a:avLst/>
          </a:prstGeom>
          <a:solidFill>
            <a:srgbClr val="0D1E30"/>
          </a:solidFill>
          <a:ln w="25400">
            <a:solidFill>
              <a:srgbClr val="00BFA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080760" y="3849624"/>
            <a:ext cx="2743200" cy="5029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80760" y="3913632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R²≈0.90</a:t>
            </a:r>
            <a:endParaRPr lang="en-US" sz="2800" dirty="0"/>
          </a:p>
        </p:txBody>
      </p:sp>
      <p:sp>
        <p:nvSpPr>
          <p:cNvPr id="36" name="Text 34"/>
          <p:cNvSpPr/>
          <p:nvPr/>
        </p:nvSpPr>
        <p:spPr>
          <a:xfrm>
            <a:off x="6080760" y="43434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Doğruluk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Skoru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solidFill>
            <a:srgbClr val="0D1E30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 ·  Streamlit  ·  Scikit-learn  ·  Plotly  ·  UCI IoT Data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E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Problem: Binalarda Enerji İsrafı &amp; Kontrol Eksikliği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0" y="896112"/>
            <a:ext cx="9144000" cy="36576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" y="1024128"/>
            <a:ext cx="4892040" cy="658368"/>
          </a:xfrm>
          <a:prstGeom prst="rect">
            <a:avLst/>
          </a:prstGeom>
          <a:solidFill>
            <a:srgbClr val="162C4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47472" y="1024128"/>
            <a:ext cx="64008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3385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32688" y="1133856"/>
            <a:ext cx="41879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 enerjisinin %40'ı HVAC sistemlerinden — en büyük israf kaynağı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7472" y="1792224"/>
            <a:ext cx="4892040" cy="658368"/>
          </a:xfrm>
          <a:prstGeom prst="rect">
            <a:avLst/>
          </a:prstGeom>
          <a:solidFill>
            <a:srgbClr val="162C4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7472" y="1792224"/>
            <a:ext cx="64008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90195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32688" y="1901952"/>
            <a:ext cx="41879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Geleneksel sistemler sabit If/Else ile çalışır, esneklik sıfır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47472" y="2560320"/>
            <a:ext cx="4892040" cy="658368"/>
          </a:xfrm>
          <a:prstGeom prst="rect">
            <a:avLst/>
          </a:prstGeom>
          <a:solidFill>
            <a:srgbClr val="162C4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47472" y="2560320"/>
            <a:ext cx="64008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6700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💸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32688" y="2670048"/>
            <a:ext cx="41879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 tarife saatlerinde farkındalıksız tam güç → gereksiz maliyet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47472" y="3328416"/>
            <a:ext cx="4892040" cy="658368"/>
          </a:xfrm>
          <a:prstGeom prst="rect">
            <a:avLst/>
          </a:prstGeom>
          <a:solidFill>
            <a:srgbClr val="162C4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47472" y="3328416"/>
            <a:ext cx="64008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43814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🌡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32688" y="3438144"/>
            <a:ext cx="41879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Dış sıcaklık &amp; doluluk değişimine dinamik tepki verilemiyor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47472" y="4096512"/>
            <a:ext cx="4892040" cy="658368"/>
          </a:xfrm>
          <a:prstGeom prst="rect">
            <a:avLst/>
          </a:prstGeom>
          <a:solidFill>
            <a:srgbClr val="162C4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47472" y="4096512"/>
            <a:ext cx="64008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420624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☁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32688" y="4206240"/>
            <a:ext cx="41879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Yüksek karbon emisyonu, işletme maliyeti ve konfor kaybı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0" y="1024128"/>
            <a:ext cx="3310128" cy="3840480"/>
          </a:xfrm>
          <a:prstGeom prst="rect">
            <a:avLst/>
          </a:prstGeom>
          <a:solidFill>
            <a:srgbClr val="162C47"/>
          </a:solidFill>
          <a:ln w="19050">
            <a:solidFill>
              <a:srgbClr val="00BFA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486400" y="1024128"/>
            <a:ext cx="64008" cy="384048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77840" y="1097280"/>
            <a:ext cx="3127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Çözüm: 3 Katmanlı Akıllı Sistem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650992" y="1572768"/>
            <a:ext cx="2980944" cy="877824"/>
          </a:xfrm>
          <a:prstGeom prst="rect">
            <a:avLst/>
          </a:prstGeom>
          <a:solidFill>
            <a:srgbClr val="0D1E30"/>
          </a:solidFill>
          <a:ln w="19050">
            <a:solidFill>
              <a:srgbClr val="00BFA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24144" y="1755648"/>
            <a:ext cx="457200" cy="457200"/>
          </a:xfrm>
          <a:prstGeom prst="ellipse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24144" y="17556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254496" y="16459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Dijital İkiz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254496" y="190195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Fiziksel bina modelini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simüle eder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858000" y="2450592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B4D4"/>
                </a:solidFill>
              </a:rPr>
              <a:t>▼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650992" y="2615184"/>
            <a:ext cx="2980944" cy="877824"/>
          </a:xfrm>
          <a:prstGeom prst="rect">
            <a:avLst/>
          </a:prstGeom>
          <a:solidFill>
            <a:srgbClr val="0D1E30"/>
          </a:solidFill>
          <a:ln w="19050">
            <a:solidFill>
              <a:srgbClr val="AB47B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724144" y="2798064"/>
            <a:ext cx="457200" cy="457200"/>
          </a:xfrm>
          <a:prstGeom prst="ellipse">
            <a:avLst/>
          </a:prstGeom>
          <a:solidFill>
            <a:srgbClr val="AB47BC"/>
          </a:solidFill>
          <a:ln w="12700">
            <a:solidFill>
              <a:srgbClr val="AB47B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24144" y="27980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254496" y="268833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B4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Ajan Sistemi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254496" y="294436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 zamanlı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kararlar alır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858000" y="349300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B4D4"/>
                </a:solidFill>
              </a:rPr>
              <a:t>▼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650992" y="3657600"/>
            <a:ext cx="2980944" cy="877824"/>
          </a:xfrm>
          <a:prstGeom prst="rect">
            <a:avLst/>
          </a:prstGeom>
          <a:solidFill>
            <a:srgbClr val="0D1E30"/>
          </a:solidFill>
          <a:ln w="19050">
            <a:solidFill>
              <a:srgbClr val="42A5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724144" y="3840480"/>
            <a:ext cx="457200" cy="457200"/>
          </a:xfrm>
          <a:prstGeom prst="ellipse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24144" y="3840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6254496" y="373075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2A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+ IoT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254496" y="3986784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Veriden öğrenir,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gerçekle doğrular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E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Sistem Mimarisi — Kapalı Döngü Düzeltmeleri Dahil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0" y="896112"/>
            <a:ext cx="9144000" cy="36576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1168" y="987552"/>
            <a:ext cx="2816352" cy="402336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" y="987552"/>
            <a:ext cx="28163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🌲 ML Katmanı (Kapalı Döngü)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163824" y="987552"/>
            <a:ext cx="2816352" cy="402336"/>
          </a:xfrm>
          <a:prstGeom prst="rect">
            <a:avLst/>
          </a:prstGeom>
          <a:solidFill>
            <a:srgbClr val="AB47BC"/>
          </a:solidFill>
          <a:ln w="12700">
            <a:solidFill>
              <a:srgbClr val="AB47B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63824" y="987552"/>
            <a:ext cx="28163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Ajan Katmanı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26480" y="987552"/>
            <a:ext cx="2816352" cy="402336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26480" y="987552"/>
            <a:ext cx="28163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Dijital İkiz &amp; IoT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01168" y="1463040"/>
            <a:ext cx="2816352" cy="585216"/>
          </a:xfrm>
          <a:prstGeom prst="rect">
            <a:avLst/>
          </a:prstGeom>
          <a:solidFill>
            <a:srgbClr val="0D1E30"/>
          </a:solidFill>
          <a:ln w="19050">
            <a:solidFill>
              <a:srgbClr val="42A5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481328"/>
            <a:ext cx="27066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2A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Girdi Özellikler (5 adet):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74320" y="1664208"/>
            <a:ext cx="2706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Saat · T_dış · T_iç · Kişi · Fiyat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01168" y="2103120"/>
            <a:ext cx="2816352" cy="457200"/>
          </a:xfrm>
          <a:prstGeom prst="rect">
            <a:avLst/>
          </a:prstGeom>
          <a:solidFill>
            <a:srgbClr val="1A3515"/>
          </a:solidFill>
          <a:ln w="15240">
            <a:solidFill>
              <a:srgbClr val="66BB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6032" y="2121408"/>
            <a:ext cx="27249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B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Düzeltme: T_iç özellik olarak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66B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eklendi — artık konfor durumu biliniyor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408176" y="2587752"/>
            <a:ext cx="402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B4D4"/>
                </a:solidFill>
              </a:rPr>
              <a:t>▼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01168" y="2788920"/>
            <a:ext cx="2816352" cy="566928"/>
          </a:xfrm>
          <a:prstGeom prst="rect">
            <a:avLst/>
          </a:prstGeom>
          <a:solidFill>
            <a:srgbClr val="162C47"/>
          </a:solidFill>
          <a:ln w="19050">
            <a:solidFill>
              <a:srgbClr val="42A5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6032" y="2807208"/>
            <a:ext cx="27249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Eğitimi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(hedef T_iç konforuna göre)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408176" y="3383280"/>
            <a:ext cx="402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B4D4"/>
                </a:solidFill>
              </a:rPr>
              <a:t>▼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01168" y="3584448"/>
            <a:ext cx="2816352" cy="457200"/>
          </a:xfrm>
          <a:prstGeom prst="rect">
            <a:avLst/>
          </a:prstGeom>
          <a:solidFill>
            <a:srgbClr val="1A3515"/>
          </a:solidFill>
          <a:ln w="15240">
            <a:solidFill>
              <a:srgbClr val="66BB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6032" y="3602736"/>
            <a:ext cx="27249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BB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Kapalı Döngü Tahmin: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66BB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t→ predict(T_iç) → T_iç_yeni → t+1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01168" y="4114800"/>
            <a:ext cx="2816352" cy="640080"/>
          </a:xfrm>
          <a:prstGeom prst="rect">
            <a:avLst/>
          </a:prstGeom>
          <a:solidFill>
            <a:srgbClr val="0D1E30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6032" y="4133088"/>
            <a:ext cx="27249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T_iç ~35%  ·  T_dış ~28%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Tarife ~20%  ·  Kişi ~12%  ·  Saat ~5%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163824" y="1481328"/>
            <a:ext cx="2816352" cy="694944"/>
          </a:xfrm>
          <a:prstGeom prst="rect">
            <a:avLst/>
          </a:prstGeom>
          <a:solidFill>
            <a:srgbClr val="162C47"/>
          </a:solidFill>
          <a:ln w="19050">
            <a:solidFill>
              <a:srgbClr val="42A5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163824" y="1481328"/>
            <a:ext cx="64008" cy="694944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73552" y="1536192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 Konfor Ajanı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273552" y="1792224"/>
            <a:ext cx="2651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T_iç &gt; 26°C → güç artır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(Dijital İkiz'den T_iç alır)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370832" y="2194560"/>
            <a:ext cx="40233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B4D4"/>
                </a:solidFill>
              </a:rPr>
              <a:t>▼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163824" y="2304288"/>
            <a:ext cx="2816352" cy="694944"/>
          </a:xfrm>
          <a:prstGeom prst="rect">
            <a:avLst/>
          </a:prstGeom>
          <a:solidFill>
            <a:srgbClr val="162C47"/>
          </a:solidFill>
          <a:ln w="19050">
            <a:solidFill>
              <a:srgbClr val="66BB6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163824" y="2304288"/>
            <a:ext cx="64008" cy="694944"/>
          </a:xfrm>
          <a:prstGeom prst="rect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73552" y="2359152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 Maliyet Ajanı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3273552" y="2615184"/>
            <a:ext cx="2651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 tarife → güç düşür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370832" y="3017520"/>
            <a:ext cx="40233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B4D4"/>
                </a:solidFill>
              </a:rPr>
              <a:t>▼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163824" y="3127248"/>
            <a:ext cx="2816352" cy="694944"/>
          </a:xfrm>
          <a:prstGeom prst="rect">
            <a:avLst/>
          </a:prstGeom>
          <a:solidFill>
            <a:srgbClr val="162C47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163824" y="3127248"/>
            <a:ext cx="64008" cy="69494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73552" y="3182112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🟠  Sürd. Ajanı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3273552" y="3438144"/>
            <a:ext cx="2651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Boş bina → standby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163824" y="3986784"/>
            <a:ext cx="2816352" cy="786384"/>
          </a:xfrm>
          <a:prstGeom prst="rect">
            <a:avLst/>
          </a:prstGeom>
          <a:solidFill>
            <a:srgbClr val="0D1E30"/>
          </a:solidFill>
          <a:ln w="25400">
            <a:solidFill>
              <a:srgbClr val="AB47B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3218688" y="4005072"/>
            <a:ext cx="2724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B4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  Koordinatör Ajan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3218688" y="4261104"/>
            <a:ext cx="2724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w₁·Pk + w₂·Pm + w₃·Ps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126480" y="1463040"/>
            <a:ext cx="2816352" cy="694944"/>
          </a:xfrm>
          <a:prstGeom prst="rect">
            <a:avLst/>
          </a:prstGeom>
          <a:solidFill>
            <a:srgbClr val="162C47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181344" y="1517904"/>
            <a:ext cx="2706624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 IoT Verisi (UCI)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Belçika evi · 4,5 ay · 10 dk'lık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7333488" y="2176272"/>
            <a:ext cx="40233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B4D4"/>
                </a:solidFill>
              </a:rPr>
              <a:t>▼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126480" y="2322576"/>
            <a:ext cx="2816352" cy="694944"/>
          </a:xfrm>
          <a:prstGeom prst="rect">
            <a:avLst/>
          </a:prstGeom>
          <a:solidFill>
            <a:srgbClr val="162C47"/>
          </a:solidFill>
          <a:ln w="19050">
            <a:solidFill>
              <a:srgbClr val="00BFA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181344" y="2377440"/>
            <a:ext cx="2706624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Isı Dengesi Denklemi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T_iç[t+1]=T_iç[t]+α(T_dış−T_iç)+β·N−γ·P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333488" y="3035808"/>
            <a:ext cx="40233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B4D4"/>
                </a:solidFill>
              </a:rPr>
              <a:t>▼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126480" y="3182112"/>
            <a:ext cx="2816352" cy="694944"/>
          </a:xfrm>
          <a:prstGeom prst="rect">
            <a:avLst/>
          </a:prstGeom>
          <a:solidFill>
            <a:srgbClr val="162C47"/>
          </a:solidFill>
          <a:ln w="19050">
            <a:solidFill>
              <a:srgbClr val="00BFA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181344" y="3236976"/>
            <a:ext cx="2706624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İç Sıcaklık Simülasyonu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(Kapalı döngü — tüm sistemler)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7333488" y="3895344"/>
            <a:ext cx="40233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B4D4"/>
                </a:solidFill>
              </a:rPr>
              <a:t>▼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126480" y="4041648"/>
            <a:ext cx="2816352" cy="694944"/>
          </a:xfrm>
          <a:prstGeom prst="rect">
            <a:avLst/>
          </a:prstGeom>
          <a:solidFill>
            <a:srgbClr val="162C47"/>
          </a:solidFill>
          <a:ln w="19050">
            <a:solidFill>
              <a:srgbClr val="66BB6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81344" y="4096512"/>
            <a:ext cx="2706624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Validasyon: MAE · RMSE · R²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P_klima=0 sınırlılığı belgelendi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1408176" y="4681728"/>
            <a:ext cx="4023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B4D4"/>
                </a:solidFill>
              </a:rPr>
              <a:t>▼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4370832" y="4681728"/>
            <a:ext cx="4023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B4D4"/>
                </a:solidFill>
              </a:rPr>
              <a:t>▼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333488" y="4681728"/>
            <a:ext cx="4023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B4D4"/>
                </a:solidFill>
              </a:rPr>
              <a:t>▼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1645920" y="4828032"/>
            <a:ext cx="5852160" cy="256032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645920" y="4828032"/>
            <a:ext cx="5852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Dashboard — 6 Sekme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E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Sonuçlar, Düzeltmeler &amp; Sistem Çıktısı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0" y="896112"/>
            <a:ext cx="9144000" cy="36576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" y="1005840"/>
            <a:ext cx="1993392" cy="1554480"/>
          </a:xfrm>
          <a:prstGeom prst="rect">
            <a:avLst/>
          </a:prstGeom>
          <a:solidFill>
            <a:srgbClr val="162C47"/>
          </a:solidFill>
          <a:ln w="25400">
            <a:solidFill>
              <a:srgbClr val="42A5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56032" y="1005840"/>
            <a:ext cx="1993392" cy="54864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" y="1078992"/>
            <a:ext cx="19933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2A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56032" y="1719072"/>
            <a:ext cx="19933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Enerji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Tasarrufu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32304" y="1005840"/>
            <a:ext cx="1993392" cy="1554480"/>
          </a:xfrm>
          <a:prstGeom prst="rect">
            <a:avLst/>
          </a:prstGeom>
          <a:solidFill>
            <a:srgbClr val="162C47"/>
          </a:solidFill>
          <a:ln w="25400">
            <a:solidFill>
              <a:srgbClr val="AB47B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32304" y="1005840"/>
            <a:ext cx="1993392" cy="54864"/>
          </a:xfrm>
          <a:prstGeom prst="rect">
            <a:avLst/>
          </a:prstGeom>
          <a:solidFill>
            <a:srgbClr val="AB47BC"/>
          </a:solidFill>
          <a:ln w="12700">
            <a:solidFill>
              <a:srgbClr val="AB47B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32304" y="1078992"/>
            <a:ext cx="19933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AB4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~37%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432304" y="1719072"/>
            <a:ext cx="19933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Ajan Enerji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Tasarrufu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08576" y="1005840"/>
            <a:ext cx="1993392" cy="1554480"/>
          </a:xfrm>
          <a:prstGeom prst="rect">
            <a:avLst/>
          </a:prstGeom>
          <a:solidFill>
            <a:srgbClr val="162C47"/>
          </a:solidFill>
          <a:ln w="25400">
            <a:solidFill>
              <a:srgbClr val="00BFA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08576" y="1005840"/>
            <a:ext cx="1993392" cy="54864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08576" y="1078992"/>
            <a:ext cx="19933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R²≈0.90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608576" y="1719072"/>
            <a:ext cx="19933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Validasyon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Doğruluk Skoru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784848" y="1005840"/>
            <a:ext cx="1993392" cy="1554480"/>
          </a:xfrm>
          <a:prstGeom prst="rect">
            <a:avLst/>
          </a:prstGeom>
          <a:solidFill>
            <a:srgbClr val="162C47"/>
          </a:solidFill>
          <a:ln w="254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84848" y="1005840"/>
            <a:ext cx="1993392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84848" y="1078992"/>
            <a:ext cx="19933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8.760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784848" y="1719072"/>
            <a:ext cx="19933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Eğitim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Örneği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56032" y="2706624"/>
            <a:ext cx="4572000" cy="2286000"/>
          </a:xfrm>
          <a:prstGeom prst="rect">
            <a:avLst/>
          </a:prstGeom>
          <a:solidFill>
            <a:srgbClr val="162C47"/>
          </a:solidFill>
          <a:ln w="19050">
            <a:solidFill>
              <a:srgbClr val="66BB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56032" y="2706624"/>
            <a:ext cx="64008" cy="2286000"/>
          </a:xfrm>
          <a:prstGeom prst="rect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4048" y="2761488"/>
            <a:ext cx="43525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6B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Uygulanan Teknik Düzeltmeler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84048" y="3154680"/>
            <a:ext cx="43525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ML Kapalı Döngü: T_iç her saatte modele besleniyor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84048" y="3584448"/>
            <a:ext cx="43525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T_iç Özelliği: fiyat değil konfor durumu birincil kriter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84048" y="4014216"/>
            <a:ext cx="43525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Geleneksel Kapalı Döngü: T_dış → T_iç eşiğine geçildi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84048" y="4443984"/>
            <a:ext cx="43525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UCI Sınırlılık: P_klima=0 belgeli, R² yorumu dürüst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029200" y="2706624"/>
            <a:ext cx="3858768" cy="2286000"/>
          </a:xfrm>
          <a:prstGeom prst="rect">
            <a:avLst/>
          </a:prstGeom>
          <a:solidFill>
            <a:srgbClr val="162C47"/>
          </a:solidFill>
          <a:ln w="19050">
            <a:solidFill>
              <a:srgbClr val="AB47B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029200" y="2706624"/>
            <a:ext cx="64008" cy="2286000"/>
          </a:xfrm>
          <a:prstGeom prst="rect">
            <a:avLst/>
          </a:prstGeom>
          <a:solidFill>
            <a:srgbClr val="AB47BC"/>
          </a:solidFill>
          <a:ln w="12700">
            <a:solidFill>
              <a:srgbClr val="AB47B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157216" y="2761488"/>
            <a:ext cx="36393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B4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Akademik Katkılar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157216" y="3154680"/>
            <a:ext cx="3639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Fiziksel Dijital İkiz: ısı dengesi kapalı döngü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157216" y="3557016"/>
            <a:ext cx="3639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Çoklu Ajan: ağırlıklı koordinasyon mekanizması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157216" y="3959352"/>
            <a:ext cx="3639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ML: T_iç geri beslemeli konfor odaklı öğrenme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157216" y="4361688"/>
            <a:ext cx="3639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Gerçek IoT validasyonu + belgelenmiş sınırlılıklar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157216" y="4764024"/>
            <a:ext cx="3639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(MAE / RMSE / R² / P_klima=0 şeffaflığı)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0" y="4892040"/>
            <a:ext cx="9144000" cy="201168"/>
          </a:xfrm>
          <a:prstGeom prst="rect">
            <a:avLst/>
          </a:prstGeom>
          <a:solidFill>
            <a:srgbClr val="0D1E30"/>
          </a:solidFill>
          <a:ln w="12700">
            <a:solidFill>
              <a:srgbClr val="0D1E3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0" y="489204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 ·  Streamlit  ·  Scikit-learn  ·  Plotly  ·  UCI ML Repository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Bina Enerji Yonetimi Dijital Ikizi ve Ajan Sistemi</dc:title>
  <dc:subject>PptxGenJS Presentation</dc:subject>
  <dc:creator>PptxGenJS</dc:creator>
  <cp:lastModifiedBy>PptxGenJS</cp:lastModifiedBy>
  <cp:revision>1</cp:revision>
  <dcterms:created xsi:type="dcterms:W3CDTF">2026-06-05T04:18:08Z</dcterms:created>
  <dcterms:modified xsi:type="dcterms:W3CDTF">2026-06-05T04:18:08Z</dcterms:modified>
</cp:coreProperties>
</file>