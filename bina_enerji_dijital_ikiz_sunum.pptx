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657600" cy="3657600"/>
          </a:xfrm>
          <a:prstGeom prst="ellipse">
            <a:avLst/>
          </a:prstGeom>
          <a:solidFill>
            <a:srgbClr val="1A4A7A">
              <a:alpha val="40000"/>
            </a:srgbClr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05B8E">
              <a:alpha val="30000"/>
            </a:srgbClr>
          </a:solidFill>
          <a:ln w="12700">
            <a:solidFill>
              <a:srgbClr val="005B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502920" cy="5029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46634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Tabanlı Bina Enerji Yönetimi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Dijital İkizi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Akıllı Bina Sistemlerinde Makine Öğrenmesi Destekli Enerji Optimizasyonu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4114800" cy="27432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317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Gerçek bina olmadan enerji yönetimi simülasyonu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2898648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Streamlit tabanlı interaktif web arayüzü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3465576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Geleneksel (If/Else) vs ML modeli (Random Forest) karşılaştırması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4032504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Python · Streamlit · Pandas · Plotly · Scikit-learn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583680" y="2103120"/>
            <a:ext cx="2194560" cy="2560320"/>
          </a:xfrm>
          <a:prstGeom prst="rect">
            <a:avLst/>
          </a:prstGeom>
          <a:solidFill>
            <a:srgbClr val="162C47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2103120"/>
            <a:ext cx="64008" cy="256032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3317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6675120" y="31546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Tasarrufu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749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modeli sayesinde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Problem: Binalarda Enerji İsrafı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4846320" cy="594360"/>
          </a:xfrm>
          <a:prstGeom prst="rect">
            <a:avLst/>
          </a:prstGeom>
          <a:solidFill>
            <a:srgbClr val="162C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🏭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Binaların enerji tüketiminin %40'ı HVAC (ısıtma-soğutma) sistemlerinden kaynaklanır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4846320" cy="594360"/>
          </a:xfrm>
          <a:prstGeom prst="rect">
            <a:avLst/>
          </a:prstGeom>
          <a:solidFill>
            <a:srgbClr val="162C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764792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37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183794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Geleneksel sistemler sabit If/Else kurallarıyla çalışır — hiç esneklik yoktur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478024"/>
            <a:ext cx="4846320" cy="594360"/>
          </a:xfrm>
          <a:prstGeom prst="rect">
            <a:avLst/>
          </a:prstGeom>
          <a:solidFill>
            <a:srgbClr val="162C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478024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551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255117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 tarife saatlerinde bile tam güçle çalışarak gereksiz maliyet yaratır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191256"/>
            <a:ext cx="4846320" cy="594360"/>
          </a:xfrm>
          <a:prstGeom prst="rect">
            <a:avLst/>
          </a:prstGeom>
          <a:solidFill>
            <a:srgbClr val="162C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91256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64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🌡️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05840" y="326440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sıcaklık ve bina doluluk değişimlerine dinamik tepki veremez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904488"/>
            <a:ext cx="4846320" cy="594360"/>
          </a:xfrm>
          <a:prstGeom prst="rect">
            <a:avLst/>
          </a:prstGeom>
          <a:solidFill>
            <a:srgbClr val="162C4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904488"/>
            <a:ext cx="64008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0584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Fazla karbon emisyonu ve yüksek işletme maliyeti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577840" y="1051560"/>
            <a:ext cx="3200400" cy="3749040"/>
          </a:xfrm>
          <a:prstGeom prst="rect">
            <a:avLst/>
          </a:prstGeom>
          <a:solidFill>
            <a:srgbClr val="162C47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1051560"/>
            <a:ext cx="64008" cy="37490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11430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İhtiyacı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715000" y="1600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Veriden öğrenen akıllı sistem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2103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Tarife saatine duyarlı kontrol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715000" y="26060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Doluluk bazlı güç ayarı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715000" y="31089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Dinamik sıcaklık tepkisi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715000" y="36118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Gerçek zamanlı dashboard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715000" y="41148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CO₂ takibi &amp; raporlama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Sistem Mimarisi ve Model Akışı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24128"/>
            <a:ext cx="2926080" cy="475488"/>
          </a:xfrm>
          <a:prstGeom prst="rect">
            <a:avLst/>
          </a:prstGeom>
          <a:solidFill>
            <a:srgbClr val="162C47"/>
          </a:solidFill>
          <a:ln w="2286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64008" cy="47548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Girdi Verileri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 | Dış Sıcaklık | Kişi Sayısı | Tarife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60220" y="1499616"/>
            <a:ext cx="45720" cy="237744"/>
          </a:xfrm>
          <a:prstGeom prst="rect">
            <a:avLst/>
          </a:prstGeom>
          <a:solidFill>
            <a:srgbClr val="8AB4D4"/>
          </a:solidFill>
          <a:ln w="12700">
            <a:solidFill>
              <a:srgbClr val="8AB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8488" y="1664208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4D4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719072"/>
            <a:ext cx="2926080" cy="475488"/>
          </a:xfrm>
          <a:prstGeom prst="rect">
            <a:avLst/>
          </a:prstGeom>
          <a:solidFill>
            <a:srgbClr val="162C47"/>
          </a:solidFill>
          <a:ln w="2286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719072"/>
            <a:ext cx="64008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465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Random Forest ML Modeli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197510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 gün × 24 saat eğitim verisi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760220" y="2194560"/>
            <a:ext cx="45720" cy="237744"/>
          </a:xfrm>
          <a:prstGeom prst="rect">
            <a:avLst/>
          </a:prstGeom>
          <a:solidFill>
            <a:srgbClr val="8AB4D4"/>
          </a:solidFill>
          <a:ln w="12700">
            <a:solidFill>
              <a:srgbClr val="8AB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18488" y="2359152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4D4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14016"/>
            <a:ext cx="2926080" cy="475488"/>
          </a:xfrm>
          <a:prstGeom prst="rect">
            <a:avLst/>
          </a:prstGeom>
          <a:solidFill>
            <a:srgbClr val="162C47"/>
          </a:solidFill>
          <a:ln w="2286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14016"/>
            <a:ext cx="64008" cy="47548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4144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Optimal Klima Gücü (kW)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2670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 çıktısı — elle kural yazılmadan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760220" y="2889504"/>
            <a:ext cx="45720" cy="237744"/>
          </a:xfrm>
          <a:prstGeom prst="rect">
            <a:avLst/>
          </a:prstGeom>
          <a:solidFill>
            <a:srgbClr val="8AB4D4"/>
          </a:solidFill>
          <a:ln w="12700">
            <a:solidFill>
              <a:srgbClr val="8AB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18488" y="3054096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4D4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108960"/>
            <a:ext cx="2926080" cy="475488"/>
          </a:xfrm>
          <a:prstGeom prst="rect">
            <a:avLst/>
          </a:prstGeom>
          <a:solidFill>
            <a:srgbClr val="162C47"/>
          </a:solidFill>
          <a:ln w="2286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108960"/>
            <a:ext cx="64008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136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KPI Hesaplama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36499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 % | Maliyet TL | CO₂ kg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760220" y="3584448"/>
            <a:ext cx="45720" cy="237744"/>
          </a:xfrm>
          <a:prstGeom prst="rect">
            <a:avLst/>
          </a:prstGeom>
          <a:solidFill>
            <a:srgbClr val="8AB4D4"/>
          </a:solidFill>
          <a:ln w="12700">
            <a:solidFill>
              <a:srgbClr val="8AB4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18488" y="3749040"/>
            <a:ext cx="329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B4D4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" y="3803904"/>
            <a:ext cx="2926080" cy="475488"/>
          </a:xfrm>
          <a:prstGeom prst="rect">
            <a:avLst/>
          </a:prstGeom>
          <a:solidFill>
            <a:srgbClr val="162C47"/>
          </a:solidFill>
          <a:ln w="22860">
            <a:solidFill>
              <a:srgbClr val="E11D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803904"/>
            <a:ext cx="64008" cy="47548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313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Streamlit 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0599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İnteraktif görselleştirme &amp; raporlama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657600" y="10058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Önem Skoru (Random Forest)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0" y="1508760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Sıcaklık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1463040"/>
            <a:ext cx="36576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46320" y="1463040"/>
            <a:ext cx="1536192" cy="40233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55664" y="1508760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0" y="2093976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Elektrik Tarifesi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2048256"/>
            <a:ext cx="36576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46320" y="2048256"/>
            <a:ext cx="1133856" cy="402336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2093976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657600" y="2679192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 Sayısı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2633472"/>
            <a:ext cx="36576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6320" y="2633472"/>
            <a:ext cx="658368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77840" y="267919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3657600" y="3264408"/>
            <a:ext cx="1143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846320" y="3218688"/>
            <a:ext cx="36576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46320" y="3218688"/>
            <a:ext cx="329184" cy="40233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48656" y="3264408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3657600" y="3703320"/>
            <a:ext cx="5120640" cy="1325880"/>
          </a:xfrm>
          <a:prstGeom prst="rect">
            <a:avLst/>
          </a:prstGeom>
          <a:solidFill>
            <a:srgbClr val="162C47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657600" y="3703320"/>
            <a:ext cx="64008" cy="13258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49040" y="376732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Geleneksel (If/Else)  vs  ML Modeli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749040" y="413308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Karar mekanizması: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5212080" y="41330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Elle yazılmış kurallar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903720" y="413308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Veriden öğrenilen örüntüler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749040" y="43799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Esneklik: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5212080" y="437997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Kural değiştirilmeli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903720" y="4379976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Yeni veriyle yeniden eğitilir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3749040" y="462686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Tarife farkındalığı: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212080" y="4626864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Sadece yazılmışsa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903720" y="4626864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Otomatik öğrenir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Simülasyon Sonuçları ve Sistem Çıktısı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96112"/>
            <a:ext cx="91440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05840"/>
            <a:ext cx="1993392" cy="1645920"/>
          </a:xfrm>
          <a:prstGeom prst="rect">
            <a:avLst/>
          </a:prstGeom>
          <a:solidFill>
            <a:srgbClr val="162C47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05840"/>
            <a:ext cx="1993392" cy="6400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97280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7556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Enerji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Tasarrufu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2585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Geleneksele göre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96312" y="1005840"/>
            <a:ext cx="1993392" cy="1645920"/>
          </a:xfrm>
          <a:prstGeom prst="rect">
            <a:avLst/>
          </a:prstGeom>
          <a:solidFill>
            <a:srgbClr val="162C47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1005840"/>
            <a:ext cx="1993392" cy="6400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097280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₺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496312" y="17556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Günlük Maliyet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Azaltımı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96312" y="22585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 cinsinden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1005840"/>
            <a:ext cx="1993392" cy="1645920"/>
          </a:xfrm>
          <a:prstGeom prst="rect">
            <a:avLst/>
          </a:prstGeom>
          <a:solidFill>
            <a:srgbClr val="162C47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005840"/>
            <a:ext cx="1993392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72584" y="1097280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kg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672584" y="17556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Azaltımı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72584" y="22585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 / gün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48856" y="1005840"/>
            <a:ext cx="1993392" cy="1645920"/>
          </a:xfrm>
          <a:prstGeom prst="rect">
            <a:avLst/>
          </a:prstGeom>
          <a:solidFill>
            <a:srgbClr val="162C47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48856" y="1005840"/>
            <a:ext cx="1993392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48856" y="1097280"/>
            <a:ext cx="19933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8.760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848856" y="1755648"/>
            <a:ext cx="19933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Örneği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848856" y="2258568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365gün × 24saat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788920"/>
            <a:ext cx="5029200" cy="548640"/>
          </a:xfrm>
          <a:prstGeom prst="rect">
            <a:avLst/>
          </a:prstGeom>
          <a:solidFill>
            <a:srgbClr val="162C47"/>
          </a:solidFill>
          <a:ln w="1905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88920"/>
            <a:ext cx="64008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2843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68680" y="2862072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 tarife saatlerinde güç otomatik %35–65 azaltılır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447288"/>
            <a:ext cx="5029200" cy="548640"/>
          </a:xfrm>
          <a:prstGeom prst="rect">
            <a:avLst/>
          </a:prstGeom>
          <a:solidFill>
            <a:srgbClr val="162C47"/>
          </a:solidFill>
          <a:ln w="1905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447288"/>
            <a:ext cx="64008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5021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68680" y="352044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modeli elle kural yazmadan optimal kararı öğrenir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105656"/>
            <a:ext cx="5029200" cy="548640"/>
          </a:xfrm>
          <a:prstGeom prst="rect">
            <a:avLst/>
          </a:prstGeom>
          <a:solidFill>
            <a:srgbClr val="162C47"/>
          </a:solidFill>
          <a:ln w="1905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4105656"/>
            <a:ext cx="64008" cy="5486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🎛️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868680" y="4178808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parametreleri (sıcaklık, doluluk, tarife) anlık güncellenebilir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77840" y="2743200"/>
            <a:ext cx="3246120" cy="2194560"/>
          </a:xfrm>
          <a:prstGeom prst="rect">
            <a:avLst/>
          </a:prstGeom>
          <a:solidFill>
            <a:srgbClr val="162C47"/>
          </a:solidFill>
          <a:ln w="1905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577840" y="2743200"/>
            <a:ext cx="64008" cy="219456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28163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Bileşenleri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715000" y="321868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4 büyük KPI kartı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715000" y="3547872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Güç profili karşılaştırma grafiği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715000" y="387705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Özellik önem çubuk grafiği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715000" y="420624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🥧  Klima modu pasta grafiği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715000" y="453542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Renk gradyanlı detay tablosu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Bina Enerji Yonetimi Dijital Ikizi</dc:title>
  <dc:subject>PptxGenJS Presentation</dc:subject>
  <dc:creator>PptxGenJS</dc:creator>
  <cp:lastModifiedBy>PptxGenJS</cp:lastModifiedBy>
  <cp:revision>1</cp:revision>
  <dcterms:created xsi:type="dcterms:W3CDTF">2026-06-02T20:00:54Z</dcterms:created>
  <dcterms:modified xsi:type="dcterms:W3CDTF">2026-06-02T20:00:54Z</dcterms:modified>
</cp:coreProperties>
</file>