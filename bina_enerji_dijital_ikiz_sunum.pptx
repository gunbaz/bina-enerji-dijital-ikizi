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822960"/>
            <a:ext cx="3840480" cy="3840480"/>
          </a:xfrm>
          <a:prstGeom prst="ellipse">
            <a:avLst/>
          </a:prstGeom>
          <a:solidFill>
            <a:srgbClr val="1A4A7A">
              <a:alpha val="38000"/>
            </a:srgbClr>
          </a:solidFill>
          <a:ln w="12700">
            <a:solidFill>
              <a:srgbClr val="1A4A7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280160" y="3108960"/>
            <a:ext cx="3474720" cy="3474720"/>
          </a:xfrm>
          <a:prstGeom prst="ellipse">
            <a:avLst/>
          </a:prstGeom>
          <a:solidFill>
            <a:srgbClr val="005B8E">
              <a:alpha val="28000"/>
            </a:srgbClr>
          </a:solidFill>
          <a:ln w="12700">
            <a:solidFill>
              <a:srgbClr val="005B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 Enerji Yönetimi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42A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Dijital İkiz &amp; Ajan Sistemi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457200" y="1316736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Fiziksel Termal Model  ·  Çoklu Ajan  ·  ML  ·  Gerçek IoT Validasyonu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709928"/>
            <a:ext cx="4572000" cy="27432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874520"/>
            <a:ext cx="5212080" cy="548640"/>
          </a:xfrm>
          <a:prstGeom prst="rect">
            <a:avLst/>
          </a:prstGeom>
          <a:solidFill>
            <a:srgbClr val="162C47"/>
          </a:solidFill>
          <a:ln w="19050">
            <a:solidFill>
              <a:srgbClr val="42A5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874520"/>
            <a:ext cx="64008" cy="548640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9476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🔬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24128" y="1956816"/>
            <a:ext cx="4526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Fiziksel ısı dengesi denklemli gerçek Dijital İkiz simülasyonu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32888"/>
            <a:ext cx="5212080" cy="548640"/>
          </a:xfrm>
          <a:prstGeom prst="rect">
            <a:avLst/>
          </a:prstGeom>
          <a:solidFill>
            <a:srgbClr val="162C47"/>
          </a:solidFill>
          <a:ln w="19050">
            <a:solidFill>
              <a:srgbClr val="AB47B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32888"/>
            <a:ext cx="64008" cy="548640"/>
          </a:xfrm>
          <a:prstGeom prst="rect">
            <a:avLst/>
          </a:prstGeom>
          <a:solidFill>
            <a:srgbClr val="AB47BC"/>
          </a:solidFill>
          <a:ln w="12700">
            <a:solidFill>
              <a:srgbClr val="AB47B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6060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🤝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24128" y="2615184"/>
            <a:ext cx="4526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otonom ajan + koordinatör ile çoklu ajan karar sistemi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191256"/>
            <a:ext cx="5212080" cy="548640"/>
          </a:xfrm>
          <a:prstGeom prst="rect">
            <a:avLst/>
          </a:prstGeom>
          <a:solidFill>
            <a:srgbClr val="162C47"/>
          </a:solidFill>
          <a:ln w="19050">
            <a:solidFill>
              <a:srgbClr val="00BFA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191256"/>
            <a:ext cx="64008" cy="54864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644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🌲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24128" y="3273552"/>
            <a:ext cx="4526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8.760 örnekle eğitilmiş Random Forest ML modeli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849624"/>
            <a:ext cx="5212080" cy="548640"/>
          </a:xfrm>
          <a:prstGeom prst="rect">
            <a:avLst/>
          </a:prstGeom>
          <a:solidFill>
            <a:srgbClr val="162C4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849624"/>
            <a:ext cx="64008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9227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24128" y="3931920"/>
            <a:ext cx="4526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veri setiyle gerçek IoT sensör verisi validasyonu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080760" y="1874520"/>
            <a:ext cx="2743200" cy="877824"/>
          </a:xfrm>
          <a:prstGeom prst="rect">
            <a:avLst/>
          </a:prstGeom>
          <a:solidFill>
            <a:srgbClr val="0D1E30"/>
          </a:solidFill>
          <a:ln w="25400">
            <a:solidFill>
              <a:srgbClr val="42A5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80760" y="1874520"/>
            <a:ext cx="2743200" cy="50292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80760" y="1938528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2A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080760" y="236829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Enerji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Tasarrufu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080760" y="2862072"/>
            <a:ext cx="2743200" cy="877824"/>
          </a:xfrm>
          <a:prstGeom prst="rect">
            <a:avLst/>
          </a:prstGeom>
          <a:solidFill>
            <a:srgbClr val="0D1E30"/>
          </a:solidFill>
          <a:ln w="25400">
            <a:solidFill>
              <a:srgbClr val="AB47B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80760" y="2862072"/>
            <a:ext cx="2743200" cy="50292"/>
          </a:xfrm>
          <a:prstGeom prst="rect">
            <a:avLst/>
          </a:prstGeom>
          <a:solidFill>
            <a:srgbClr val="AB47BC"/>
          </a:solidFill>
          <a:ln w="12700">
            <a:solidFill>
              <a:srgbClr val="AB47B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80760" y="292608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AB4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~37%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6080760" y="335584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Ajan Enerji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Tasarrufu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080760" y="3849624"/>
            <a:ext cx="2743200" cy="877824"/>
          </a:xfrm>
          <a:prstGeom prst="rect">
            <a:avLst/>
          </a:prstGeom>
          <a:solidFill>
            <a:srgbClr val="0D1E30"/>
          </a:solidFill>
          <a:ln w="25400">
            <a:solidFill>
              <a:srgbClr val="00BFA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080760" y="3849624"/>
            <a:ext cx="2743200" cy="5029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80760" y="3913632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R²≈0.90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6080760" y="4343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Doğruluk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Skoru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solidFill>
            <a:srgbClr val="0D1E30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 ·  Streamlit  ·  Scikit-learn  ·  Plotly  ·  UCI IoT Data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Problem: Binalarda Enerji İsrafı &amp; Kontrol Eksikliği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0" y="896112"/>
            <a:ext cx="9144000" cy="36576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1024128"/>
            <a:ext cx="4892040" cy="658368"/>
          </a:xfrm>
          <a:prstGeom prst="rect">
            <a:avLst/>
          </a:prstGeom>
          <a:solidFill>
            <a:srgbClr val="162C4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47472" y="1024128"/>
            <a:ext cx="64008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3385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32688" y="1133856"/>
            <a:ext cx="41879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 enerjisinin %40'ı HVAC sistemlerinden — en büyük israf kaynağı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7472" y="1792224"/>
            <a:ext cx="4892040" cy="658368"/>
          </a:xfrm>
          <a:prstGeom prst="rect">
            <a:avLst/>
          </a:prstGeom>
          <a:solidFill>
            <a:srgbClr val="162C4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7472" y="1792224"/>
            <a:ext cx="64008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90195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32688" y="1901952"/>
            <a:ext cx="41879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Geleneksel sistemler sabit If/Else ile çalışır, esneklik sıfır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47472" y="2560320"/>
            <a:ext cx="4892040" cy="658368"/>
          </a:xfrm>
          <a:prstGeom prst="rect">
            <a:avLst/>
          </a:prstGeom>
          <a:solidFill>
            <a:srgbClr val="162C4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7472" y="2560320"/>
            <a:ext cx="64008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6700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💸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32688" y="2670048"/>
            <a:ext cx="41879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 tarife saatlerinde farkındalıksız tam güç → gereksiz maliyet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47472" y="3328416"/>
            <a:ext cx="4892040" cy="658368"/>
          </a:xfrm>
          <a:prstGeom prst="rect">
            <a:avLst/>
          </a:prstGeom>
          <a:solidFill>
            <a:srgbClr val="162C4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47472" y="3328416"/>
            <a:ext cx="64008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43814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🌡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32688" y="3438144"/>
            <a:ext cx="41879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Dış sıcaklık &amp; doluluk değişimine dinamik tepki verilemiyor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47472" y="4096512"/>
            <a:ext cx="4892040" cy="658368"/>
          </a:xfrm>
          <a:prstGeom prst="rect">
            <a:avLst/>
          </a:prstGeom>
          <a:solidFill>
            <a:srgbClr val="162C4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47472" y="4096512"/>
            <a:ext cx="64008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20624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☁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32688" y="4206240"/>
            <a:ext cx="41879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Yüksek karbon emisyonu, işletme maliyeti ve konfor kaybı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1024128"/>
            <a:ext cx="3310128" cy="3840480"/>
          </a:xfrm>
          <a:prstGeom prst="rect">
            <a:avLst/>
          </a:prstGeom>
          <a:solidFill>
            <a:srgbClr val="162C47"/>
          </a:solidFill>
          <a:ln w="19050">
            <a:solidFill>
              <a:srgbClr val="00BFA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86400" y="1024128"/>
            <a:ext cx="64008" cy="384048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77840" y="1097280"/>
            <a:ext cx="3127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Çözüm: 3 Katmanlı Akıllı Sistem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650992" y="1572768"/>
            <a:ext cx="2980944" cy="877824"/>
          </a:xfrm>
          <a:prstGeom prst="rect">
            <a:avLst/>
          </a:prstGeom>
          <a:solidFill>
            <a:srgbClr val="0D1E30"/>
          </a:solidFill>
          <a:ln w="19050">
            <a:solidFill>
              <a:srgbClr val="00BFA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24144" y="1755648"/>
            <a:ext cx="457200" cy="457200"/>
          </a:xfrm>
          <a:prstGeom prst="ellipse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24144" y="1755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254496" y="16459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Dijital İkiz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254496" y="190195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Fiziksel bina modelini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simüle eder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858000" y="2450592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B4D4"/>
                </a:solidFill>
              </a:rPr>
              <a:t>▼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650992" y="2615184"/>
            <a:ext cx="2980944" cy="877824"/>
          </a:xfrm>
          <a:prstGeom prst="rect">
            <a:avLst/>
          </a:prstGeom>
          <a:solidFill>
            <a:srgbClr val="0D1E30"/>
          </a:solidFill>
          <a:ln w="19050">
            <a:solidFill>
              <a:srgbClr val="AB47B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24144" y="2798064"/>
            <a:ext cx="457200" cy="457200"/>
          </a:xfrm>
          <a:prstGeom prst="ellipse">
            <a:avLst/>
          </a:prstGeom>
          <a:solidFill>
            <a:srgbClr val="AB47BC"/>
          </a:solidFill>
          <a:ln w="12700">
            <a:solidFill>
              <a:srgbClr val="AB47B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24144" y="27980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254496" y="268833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B4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Ajan Sistemi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254496" y="294436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zamanlı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kararlar alır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858000" y="349300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B4D4"/>
                </a:solidFill>
              </a:rPr>
              <a:t>▼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650992" y="3657600"/>
            <a:ext cx="2980944" cy="877824"/>
          </a:xfrm>
          <a:prstGeom prst="rect">
            <a:avLst/>
          </a:prstGeom>
          <a:solidFill>
            <a:srgbClr val="0D1E30"/>
          </a:solidFill>
          <a:ln w="19050">
            <a:solidFill>
              <a:srgbClr val="42A5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724144" y="3840480"/>
            <a:ext cx="457200" cy="457200"/>
          </a:xfrm>
          <a:prstGeom prst="ellipse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24144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6254496" y="373075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A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+ IoT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254496" y="398678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Veriden öğrenir,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gerçekle doğrular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Sistem Mimarisi — 3 Katmanlı Yapı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0" y="896112"/>
            <a:ext cx="9144000" cy="36576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" y="987552"/>
            <a:ext cx="2834640" cy="402336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98755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🌲 ML Katmanı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246120" y="987552"/>
            <a:ext cx="2834640" cy="402336"/>
          </a:xfrm>
          <a:prstGeom prst="rect">
            <a:avLst/>
          </a:prstGeom>
          <a:solidFill>
            <a:srgbClr val="AB47BC"/>
          </a:solidFill>
          <a:ln w="12700">
            <a:solidFill>
              <a:srgbClr val="AB47B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6120" y="98755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Ajan Katmanı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987552"/>
            <a:ext cx="2834640" cy="402336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3640" y="98755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Dijital İkiz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228600" y="1481328"/>
            <a:ext cx="2834640" cy="658368"/>
          </a:xfrm>
          <a:prstGeom prst="rect">
            <a:avLst/>
          </a:prstGeom>
          <a:solidFill>
            <a:srgbClr val="162C47"/>
          </a:solidFill>
          <a:ln w="19050">
            <a:solidFill>
              <a:srgbClr val="42A5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536192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 Gün × 24 Saat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Sentetik Veri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444752" y="2167128"/>
            <a:ext cx="402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B4D4"/>
                </a:solidFill>
              </a:rPr>
              <a:t>▼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2414016"/>
            <a:ext cx="2834640" cy="658368"/>
          </a:xfrm>
          <a:prstGeom prst="rect">
            <a:avLst/>
          </a:prstGeom>
          <a:solidFill>
            <a:srgbClr val="162C47"/>
          </a:solidFill>
          <a:ln w="19050">
            <a:solidFill>
              <a:srgbClr val="42A5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24688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Eğitimi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444752" y="3099816"/>
            <a:ext cx="402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B4D4"/>
                </a:solidFill>
              </a:rPr>
              <a:t>▼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28600" y="3346704"/>
            <a:ext cx="2834640" cy="658368"/>
          </a:xfrm>
          <a:prstGeom prst="rect">
            <a:avLst/>
          </a:prstGeom>
          <a:solidFill>
            <a:srgbClr val="162C47"/>
          </a:solidFill>
          <a:ln w="19050">
            <a:solidFill>
              <a:srgbClr val="42A5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3401568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Güç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Tahmini (kW)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8600" y="4297680"/>
            <a:ext cx="2834640" cy="640080"/>
          </a:xfrm>
          <a:prstGeom prst="rect">
            <a:avLst/>
          </a:prstGeom>
          <a:solidFill>
            <a:srgbClr val="0D1E30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4315968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Sıcaklık 42%  ·  Tarife 31%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Kişi 18%  ·  Saat 9%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46120" y="1481328"/>
            <a:ext cx="2834640" cy="621792"/>
          </a:xfrm>
          <a:prstGeom prst="rect">
            <a:avLst/>
          </a:prstGeom>
          <a:solidFill>
            <a:srgbClr val="162C47"/>
          </a:solidFill>
          <a:ln w="19050">
            <a:solidFill>
              <a:srgbClr val="42A5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46120" y="1481328"/>
            <a:ext cx="64008" cy="621792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64992" y="1517904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 Konfor Ajanı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364992" y="1773936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T_iç &gt; 26°C → güç artır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462272" y="2121408"/>
            <a:ext cx="402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B4D4"/>
                </a:solidFill>
              </a:rPr>
              <a:t>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46120" y="2231136"/>
            <a:ext cx="2834640" cy="621792"/>
          </a:xfrm>
          <a:prstGeom prst="rect">
            <a:avLst/>
          </a:prstGeom>
          <a:solidFill>
            <a:srgbClr val="162C47"/>
          </a:solidFill>
          <a:ln w="19050">
            <a:solidFill>
              <a:srgbClr val="66BB6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46120" y="2231136"/>
            <a:ext cx="64008" cy="621792"/>
          </a:xfrm>
          <a:prstGeom prst="rect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64992" y="226771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 Maliyet Ajanı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364992" y="2523744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 tarife → güç düşür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462272" y="2871216"/>
            <a:ext cx="402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B4D4"/>
                </a:solidFill>
              </a:rPr>
              <a:t>▼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246120" y="2980944"/>
            <a:ext cx="2834640" cy="621792"/>
          </a:xfrm>
          <a:prstGeom prst="rect">
            <a:avLst/>
          </a:prstGeom>
          <a:solidFill>
            <a:srgbClr val="162C47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46120" y="2980944"/>
            <a:ext cx="64008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64992" y="301752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  Sürd. Ajanı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3364992" y="327355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Boş bina → standby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246120" y="3767328"/>
            <a:ext cx="2834640" cy="749808"/>
          </a:xfrm>
          <a:prstGeom prst="rect">
            <a:avLst/>
          </a:prstGeom>
          <a:solidFill>
            <a:srgbClr val="0D1E30"/>
          </a:solidFill>
          <a:ln w="25400">
            <a:solidFill>
              <a:srgbClr val="AB47B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291840" y="3785616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B4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 Koordinatör Ajan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291840" y="4041648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w₁·Pkonfor + w₂·Pmaliyet + w₃·Psürd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263640" y="1481328"/>
            <a:ext cx="2834640" cy="658368"/>
          </a:xfrm>
          <a:prstGeom prst="rect">
            <a:avLst/>
          </a:prstGeom>
          <a:solidFill>
            <a:srgbClr val="162C47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09360" y="1527048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IoT Verisi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(UCI Dataset)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7479792" y="2157984"/>
            <a:ext cx="4023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B4D4"/>
                </a:solidFill>
              </a:rPr>
              <a:t>▼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263640" y="2286000"/>
            <a:ext cx="2834640" cy="658368"/>
          </a:xfrm>
          <a:prstGeom prst="rect">
            <a:avLst/>
          </a:prstGeom>
          <a:solidFill>
            <a:srgbClr val="162C47"/>
          </a:solidFill>
          <a:ln w="19050">
            <a:solidFill>
              <a:srgbClr val="00BFA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09360" y="233172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Isı Dengesi Denklemi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T_iç[t+1] = T_iç[t] + α(T_dış−T_iç) + β·N − γ·P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479792" y="2962656"/>
            <a:ext cx="4023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B4D4"/>
                </a:solidFill>
              </a:rPr>
              <a:t>▼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263640" y="3090672"/>
            <a:ext cx="2834640" cy="658368"/>
          </a:xfrm>
          <a:prstGeom prst="rect">
            <a:avLst/>
          </a:prstGeom>
          <a:solidFill>
            <a:srgbClr val="162C47"/>
          </a:solidFill>
          <a:ln w="19050">
            <a:solidFill>
              <a:srgbClr val="00BFA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09360" y="3136392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 Sıcaklık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Simülasyonu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7479792" y="3767328"/>
            <a:ext cx="4023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B4D4"/>
                </a:solidFill>
              </a:rPr>
              <a:t>▼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263640" y="3895344"/>
            <a:ext cx="2834640" cy="658368"/>
          </a:xfrm>
          <a:prstGeom prst="rect">
            <a:avLst/>
          </a:prstGeom>
          <a:solidFill>
            <a:srgbClr val="162C47"/>
          </a:solidFill>
          <a:ln w="19050">
            <a:solidFill>
              <a:srgbClr val="66BB6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09360" y="3941064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Validasyon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 ·  RMSE  ·  R²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1444752" y="4663440"/>
            <a:ext cx="402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B4D4"/>
                </a:solidFill>
              </a:rPr>
              <a:t>▼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462272" y="4663440"/>
            <a:ext cx="402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B4D4"/>
                </a:solidFill>
              </a:rPr>
              <a:t>▼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7479792" y="4663440"/>
            <a:ext cx="402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B4D4"/>
                </a:solidFill>
              </a:rPr>
              <a:t>▼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1645920" y="4809744"/>
            <a:ext cx="5852160" cy="274320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645920" y="4809744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Dashboard — 6 Sekme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Sonuçlar &amp; Sistem Çıktısı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0" y="896112"/>
            <a:ext cx="9144000" cy="36576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" y="1005840"/>
            <a:ext cx="1993392" cy="1554480"/>
          </a:xfrm>
          <a:prstGeom prst="rect">
            <a:avLst/>
          </a:prstGeom>
          <a:solidFill>
            <a:srgbClr val="162C47"/>
          </a:solidFill>
          <a:ln w="25400">
            <a:solidFill>
              <a:srgbClr val="42A5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56032" y="1005840"/>
            <a:ext cx="1993392" cy="54864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1078992"/>
            <a:ext cx="19933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2A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56032" y="1719072"/>
            <a:ext cx="19933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Enerji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Tasarrufu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32304" y="1005840"/>
            <a:ext cx="1993392" cy="1554480"/>
          </a:xfrm>
          <a:prstGeom prst="rect">
            <a:avLst/>
          </a:prstGeom>
          <a:solidFill>
            <a:srgbClr val="162C47"/>
          </a:solidFill>
          <a:ln w="25400">
            <a:solidFill>
              <a:srgbClr val="AB47B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32304" y="1005840"/>
            <a:ext cx="1993392" cy="54864"/>
          </a:xfrm>
          <a:prstGeom prst="rect">
            <a:avLst/>
          </a:prstGeom>
          <a:solidFill>
            <a:srgbClr val="AB47BC"/>
          </a:solidFill>
          <a:ln w="12700">
            <a:solidFill>
              <a:srgbClr val="AB47B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32304" y="1078992"/>
            <a:ext cx="19933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B4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432304" y="1719072"/>
            <a:ext cx="19933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Ajan Enerji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Tasarrufu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08576" y="1005840"/>
            <a:ext cx="1993392" cy="1554480"/>
          </a:xfrm>
          <a:prstGeom prst="rect">
            <a:avLst/>
          </a:prstGeom>
          <a:solidFill>
            <a:srgbClr val="162C47"/>
          </a:solidFill>
          <a:ln w="25400">
            <a:solidFill>
              <a:srgbClr val="00BFA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08576" y="1005840"/>
            <a:ext cx="1993392" cy="54864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08576" y="1078992"/>
            <a:ext cx="19933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R²≈0.90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608576" y="1719072"/>
            <a:ext cx="19933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Validasyon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Doğruluk Skoru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784848" y="1005840"/>
            <a:ext cx="1993392" cy="1554480"/>
          </a:xfrm>
          <a:prstGeom prst="rect">
            <a:avLst/>
          </a:prstGeom>
          <a:solidFill>
            <a:srgbClr val="162C47"/>
          </a:solidFill>
          <a:ln w="254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84848" y="1005840"/>
            <a:ext cx="1993392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84848" y="1078992"/>
            <a:ext cx="19933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8.760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784848" y="1719072"/>
            <a:ext cx="19933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Eğitim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Örneği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56032" y="2706624"/>
            <a:ext cx="4846320" cy="2286000"/>
          </a:xfrm>
          <a:prstGeom prst="rect">
            <a:avLst/>
          </a:prstGeom>
          <a:solidFill>
            <a:srgbClr val="162C47"/>
          </a:solidFill>
          <a:ln w="19050">
            <a:solidFill>
              <a:srgbClr val="42A5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56032" y="2706624"/>
            <a:ext cx="64008" cy="2286000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2761488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A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Özellikleri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84048" y="3127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3 sistemin güç profili karşılaştırması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84048" y="343814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 Dijital İkiz iç sıcaklık dinamiği + konfor bandı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84048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 Ajan oy tablosu + koordinatör kararı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84048" y="405993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Random Forest özellik önem analizi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84048" y="4370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 UCI IoT verisiyle gerçek zamanlı validasyon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84048" y="46817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Tüm sistemlerin saatlik detay tablosu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303520" y="2706624"/>
            <a:ext cx="3584448" cy="2286000"/>
          </a:xfrm>
          <a:prstGeom prst="rect">
            <a:avLst/>
          </a:prstGeom>
          <a:solidFill>
            <a:srgbClr val="162C47"/>
          </a:solidFill>
          <a:ln w="19050">
            <a:solidFill>
              <a:srgbClr val="AB47B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303520" y="2706624"/>
            <a:ext cx="64008" cy="2286000"/>
          </a:xfrm>
          <a:prstGeom prst="rect">
            <a:avLst/>
          </a:prstGeom>
          <a:solidFill>
            <a:srgbClr val="AB47BC"/>
          </a:solidFill>
          <a:ln w="12700">
            <a:solidFill>
              <a:srgbClr val="AB47B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31536" y="2761488"/>
            <a:ext cx="3383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B4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Akademik Katkılar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31536" y="312724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Fiziksel Dijital İkiz: ısı dengesi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kapalı döngü kontrolü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31536" y="363016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Çoklu Ajan: ağırlıklı koordinasyon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mekanizması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431536" y="413308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ML ile kural-öğrenme karşılaştırması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31536" y="463600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Gerçek IoT verisiyle model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validasyonu (MAE/RMSE/R²)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892040"/>
            <a:ext cx="9144000" cy="201168"/>
          </a:xfrm>
          <a:prstGeom prst="rect">
            <a:avLst/>
          </a:prstGeom>
          <a:solidFill>
            <a:srgbClr val="0D1E30"/>
          </a:solidFill>
          <a:ln w="12700">
            <a:solidFill>
              <a:srgbClr val="0D1E3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0" y="489204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Teknoloji: Python  ·  Streamlit  ·  Scikit-learn  ·  Plotly  ·  UCI ML Repository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Bina Enerji Yonetimi Dijital Ikizi ve Ajan Sistemi</dc:title>
  <dc:subject>PptxGenJS Presentation</dc:subject>
  <dc:creator>PptxGenJS</dc:creator>
  <cp:lastModifiedBy>PptxGenJS</cp:lastModifiedBy>
  <cp:revision>1</cp:revision>
  <dcterms:created xsi:type="dcterms:W3CDTF">2026-06-04T19:27:50Z</dcterms:created>
  <dcterms:modified xsi:type="dcterms:W3CDTF">2026-06-04T19:27:50Z</dcterms:modified>
</cp:coreProperties>
</file>